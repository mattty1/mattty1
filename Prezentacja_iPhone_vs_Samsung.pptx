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500" b="1">
                <a:solidFill>
                  <a:srgbClr val="1D1D1F"/>
                </a:solidFill>
              </a:defRPr>
            </a:pPr>
            <a:r>
              <a:t>Struktura wg płci (%)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Płeć</c:v>
                </c:pt>
              </c:strCache>
            </c:strRef>
          </c:tx>
          <c:dPt>
            <c:idx val="0"/>
            <c:spPr>
              <a:solidFill>
                <a:srgbClr val="1428A0"/>
              </a:solidFill>
            </c:spPr>
          </c:dPt>
          <c:dPt>
            <c:idx val="1"/>
            <c:spPr>
              <a:solidFill>
                <a:srgbClr val="1B6EF3"/>
              </a:solidFill>
            </c:spPr>
          </c:dPt>
          <c:dPt>
            <c:idx val="2"/>
            <c:spPr>
              <a:solidFill>
                <a:srgbClr val="5AC8FA"/>
              </a:solidFill>
            </c:spPr>
          </c:dPt>
          <c:cat>
            <c:strRef>
              <c:f>Sheet1!$A$2:$A$4</c:f>
              <c:strCache>
                <c:ptCount val="3"/>
                <c:pt idx="0">
                  <c:v>Kobiety</c:v>
                </c:pt>
                <c:pt idx="1">
                  <c:v>Mężczyźni</c:v>
                </c:pt>
                <c:pt idx="2">
                  <c:v>Inna / brak odp.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61.73</c:v>
                </c:pt>
                <c:pt idx="1">
                  <c:v>32.1</c:v>
                </c:pt>
                <c:pt idx="2">
                  <c:v>6.17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rgbClr val="1D1D1F"/>
          </a:solidFill>
          <a:latin typeface="Calibri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500" b="1">
                <a:solidFill>
                  <a:srgbClr val="1D1D1F"/>
                </a:solidFill>
              </a:defRPr>
            </a:pPr>
            <a:r>
              <a:t>Struktura wg wieku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Wiek</c:v>
                </c:pt>
              </c:strCache>
            </c:strRef>
          </c:tx>
          <c:dPt>
            <c:idx val="0"/>
            <c:spPr>
              <a:solidFill>
                <a:srgbClr val="0071E3"/>
              </a:solidFill>
            </c:spPr>
          </c:dPt>
          <c:dPt>
            <c:idx val="1"/>
            <c:spPr>
              <a:solidFill>
                <a:srgbClr val="1428A0"/>
              </a:solidFill>
            </c:spPr>
          </c:dPt>
          <c:dPt>
            <c:idx val="2"/>
            <c:spPr>
              <a:solidFill>
                <a:srgbClr val="009DDC"/>
              </a:solidFill>
            </c:spPr>
          </c:dPt>
          <c:dPt>
            <c:idx val="3"/>
            <c:spPr>
              <a:solidFill>
                <a:srgbClr val="5AC8FA"/>
              </a:solidFill>
            </c:spPr>
          </c:dPt>
          <c:dPt>
            <c:idx val="4"/>
            <c:spPr>
              <a:solidFill>
                <a:srgbClr val="48484A"/>
              </a:solidFill>
            </c:spPr>
          </c:dPt>
          <c:dPt>
            <c:idx val="5"/>
            <c:spPr>
              <a:solidFill>
                <a:srgbClr val="1B6EF3"/>
              </a:solidFill>
            </c:spPr>
          </c:dPt>
          <c:cat>
            <c:strRef>
              <c:f>Sheet1!$A$2:$A$7</c:f>
              <c:strCache>
                <c:ptCount val="6"/>
                <c:pt idx="0">
                  <c:v>&lt;18</c:v>
                </c:pt>
                <c:pt idx="1">
                  <c:v>18-24</c:v>
                </c:pt>
                <c:pt idx="2">
                  <c:v>25-34</c:v>
                </c:pt>
                <c:pt idx="3">
                  <c:v>35-44</c:v>
                </c:pt>
                <c:pt idx="4">
                  <c:v>45-54</c:v>
                </c:pt>
                <c:pt idx="5">
                  <c:v>55+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11.11</c:v>
                </c:pt>
                <c:pt idx="1">
                  <c:v>67.9</c:v>
                </c:pt>
                <c:pt idx="2">
                  <c:v>2.47</c:v>
                </c:pt>
                <c:pt idx="3">
                  <c:v>7.41</c:v>
                </c:pt>
                <c:pt idx="4">
                  <c:v>8.64</c:v>
                </c:pt>
                <c:pt idx="5">
                  <c:v>2.47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1D1D1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iPhone</c:v>
                </c:pt>
              </c:strCache>
            </c:strRef>
          </c:tx>
          <c:spPr>
            <a:solidFill>
              <a:srgbClr val="1D1D1F"/>
            </a:solidFill>
          </c:spPr>
          <c:cat>
            <c:strRef>
              <c:f>Sheet1!$A$2:$A$9</c:f>
              <c:strCache>
                <c:ptCount val="8"/>
                <c:pt idx="0">
                  <c:v>Aparat</c:v>
                </c:pt>
                <c:pt idx="1">
                  <c:v>Prestiż</c:v>
                </c:pt>
                <c:pt idx="2">
                  <c:v>Jakość/design</c:v>
                </c:pt>
                <c:pt idx="3">
                  <c:v>Niezawodność</c:v>
                </c:pt>
                <c:pt idx="4">
                  <c:v>Intuicyjność</c:v>
                </c:pt>
                <c:pt idx="5">
                  <c:v>Cena/jakość</c:v>
                </c:pt>
                <c:pt idx="6">
                  <c:v>Innowacyjność</c:v>
                </c:pt>
                <c:pt idx="7">
                  <c:v>Bateria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4.51</c:v>
                </c:pt>
                <c:pt idx="1">
                  <c:v>4.27</c:v>
                </c:pt>
                <c:pt idx="2">
                  <c:v>4.2</c:v>
                </c:pt>
                <c:pt idx="3">
                  <c:v>3.56</c:v>
                </c:pt>
                <c:pt idx="4">
                  <c:v>3.67</c:v>
                </c:pt>
                <c:pt idx="5">
                  <c:v>3.17</c:v>
                </c:pt>
                <c:pt idx="6">
                  <c:v>3.94</c:v>
                </c:pt>
                <c:pt idx="7">
                  <c:v>2.8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Samsung</c:v>
                </c:pt>
              </c:strCache>
            </c:strRef>
          </c:tx>
          <c:spPr>
            <a:solidFill>
              <a:srgbClr val="1428A0"/>
            </a:solidFill>
          </c:spPr>
          <c:cat>
            <c:strRef>
              <c:f>Sheet1!$A$2:$A$9</c:f>
              <c:strCache>
                <c:ptCount val="8"/>
                <c:pt idx="0">
                  <c:v>Aparat</c:v>
                </c:pt>
                <c:pt idx="1">
                  <c:v>Prestiż</c:v>
                </c:pt>
                <c:pt idx="2">
                  <c:v>Jakość/design</c:v>
                </c:pt>
                <c:pt idx="3">
                  <c:v>Niezawodność</c:v>
                </c:pt>
                <c:pt idx="4">
                  <c:v>Intuicyjność</c:v>
                </c:pt>
                <c:pt idx="5">
                  <c:v>Cena/jakość</c:v>
                </c:pt>
                <c:pt idx="6">
                  <c:v>Innowacyjność</c:v>
                </c:pt>
                <c:pt idx="7">
                  <c:v>Bateria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3.78</c:v>
                </c:pt>
                <c:pt idx="1">
                  <c:v>3.59</c:v>
                </c:pt>
                <c:pt idx="2">
                  <c:v>3.83</c:v>
                </c:pt>
                <c:pt idx="3">
                  <c:v>3.77</c:v>
                </c:pt>
                <c:pt idx="4">
                  <c:v>3.88</c:v>
                </c:pt>
                <c:pt idx="5">
                  <c:v>3.93</c:v>
                </c:pt>
                <c:pt idx="6">
                  <c:v>3.65</c:v>
                </c:pt>
                <c:pt idx="7">
                  <c:v>4.0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9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100">
          <a:solidFill>
            <a:srgbClr val="1D1D1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350" b="1">
                <a:solidFill>
                  <a:srgbClr val="1D1D1F"/>
                </a:solidFill>
              </a:defRPr>
            </a:pPr>
            <a:r>
              <a:t>Czy iPhone = wysoki status społeczny? (%)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dPt>
            <c:idx val="0"/>
            <c:spPr>
              <a:solidFill>
                <a:srgbClr val="0A84FF"/>
              </a:solidFill>
            </c:spPr>
          </c:dPt>
          <c:dPt>
            <c:idx val="1"/>
            <c:spPr>
              <a:solidFill>
                <a:srgbClr val="86868B"/>
              </a:solidFill>
            </c:spPr>
          </c:dPt>
          <c:dPt>
            <c:idx val="2"/>
            <c:spPr>
              <a:solidFill>
                <a:srgbClr val="1428A0"/>
              </a:solidFill>
            </c:spPr>
          </c:dPt>
          <c:cat>
            <c:strRef>
              <c:f>Sheet1!$A$2:$A$4</c:f>
              <c:strCache>
                <c:ptCount val="3"/>
                <c:pt idx="0">
                  <c:v>Nie zgadza się</c:v>
                </c:pt>
                <c:pt idx="1">
                  <c:v>Trudno powiedzieć</c:v>
                </c:pt>
                <c:pt idx="2">
                  <c:v>Zgadza się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50.6</c:v>
                </c:pt>
                <c:pt idx="1">
                  <c:v>22.2</c:v>
                </c:pt>
                <c:pt idx="2">
                  <c:v>27.2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rgbClr val="1D1D1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Wybór smartfona przy nieograniczonym budżecie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Wybór</c:v>
                </c:pt>
              </c:strCache>
            </c:strRef>
          </c:tx>
          <c:dPt>
            <c:idx val="0"/>
            <c:spPr>
              <a:solidFill>
                <a:srgbClr val="5AC8FA"/>
              </a:solidFill>
            </c:spPr>
          </c:dPt>
          <c:dPt>
            <c:idx val="1"/>
            <c:spPr>
              <a:solidFill>
                <a:srgbClr val="1B6EF3"/>
              </a:solidFill>
            </c:spPr>
          </c:dPt>
          <c:dPt>
            <c:idx val="2"/>
            <c:spPr>
              <a:solidFill>
                <a:srgbClr val="1428A0"/>
              </a:solidFill>
            </c:spPr>
          </c:dPt>
          <c:cat>
            <c:strRef>
              <c:f>Sheet1!$A$2:$A$4</c:f>
              <c:strCache>
                <c:ptCount val="3"/>
                <c:pt idx="0">
                  <c:v>iPhone</c:v>
                </c:pt>
                <c:pt idx="1">
                  <c:v>Samsung</c:v>
                </c:pt>
                <c:pt idx="2">
                  <c:v>Inna marka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63.0</c:v>
                </c:pt>
                <c:pt idx="1">
                  <c:v>27.2</c:v>
                </c:pt>
                <c:pt idx="2">
                  <c:v>9.8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400" b="1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 b="1">
                <a:solidFill>
                  <a:srgbClr val="FFFF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FFFFF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122A"/>
              </a:gs>
              <a:gs pos="100000">
                <a:srgbClr val="0071E3"/>
              </a:gs>
            </a:gsLst>
            <a:lin ang="36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-1645920"/>
            <a:ext cx="3840480" cy="3840480"/>
          </a:xfrm>
          <a:prstGeom prst="ellipse">
            <a:avLst/>
          </a:prstGeom>
          <a:gradFill>
            <a:gsLst>
              <a:gs pos="0">
                <a:srgbClr val="1428A0"/>
              </a:gs>
              <a:gs pos="100000">
                <a:srgbClr val="48484A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97135" y="4480560"/>
            <a:ext cx="4206240" cy="4206240"/>
          </a:xfrm>
          <a:prstGeom prst="ellipse">
            <a:avLst/>
          </a:prstGeom>
          <a:gradFill>
            <a:gsLst>
              <a:gs pos="0">
                <a:srgbClr val="009DDC"/>
              </a:gs>
              <a:gs pos="100000">
                <a:srgbClr val="1B6EF3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77295" y="548640"/>
            <a:ext cx="1005840" cy="1005840"/>
          </a:xfrm>
          <a:prstGeom prst="ellipse">
            <a:avLst/>
          </a:prstGeom>
          <a:solidFill>
            <a:srgbClr val="5AC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5577840"/>
            <a:ext cx="731520" cy="731520"/>
          </a:xfrm>
          <a:prstGeom prst="ellipse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UNIWERSYTET MARII CURIE-SKŁODOWSKIEJ W LUBLINIE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D9CBF7"/>
                </a:solidFill>
                <a:latin typeface="Calibri"/>
              </a:rPr>
              <a:t>Wydział Ekonomiczny  |  Kierunek: Zarządzanie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148840"/>
            <a:ext cx="868680" cy="868680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iOS</a:t>
            </a:r>
          </a:p>
        </p:txBody>
      </p:sp>
      <p:sp>
        <p:nvSpPr>
          <p:cNvPr id="10" name="Oval 9"/>
          <p:cNvSpPr/>
          <p:nvPr/>
        </p:nvSpPr>
        <p:spPr>
          <a:xfrm>
            <a:off x="1828800" y="2148840"/>
            <a:ext cx="868680" cy="868680"/>
          </a:xfrm>
          <a:prstGeom prst="ellipse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2148840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54680"/>
            <a:ext cx="1060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5200" b="1" i="0">
                <a:solidFill>
                  <a:srgbClr val="FFFFFF"/>
                </a:solidFill>
                <a:latin typeface="Calibri"/>
              </a:rPr>
              <a:t>iPhone </a:t>
            </a:r>
            <a:r>
              <a:rPr sz="4000" b="1" i="1">
                <a:solidFill>
                  <a:srgbClr val="5AC8FA"/>
                </a:solidFill>
                <a:latin typeface="Calibri"/>
              </a:rPr>
              <a:t>vs</a:t>
            </a:r>
            <a:r>
              <a:rPr sz="5200" b="1" i="0">
                <a:solidFill>
                  <a:srgbClr val="FFFFFF"/>
                </a:solidFill>
                <a:latin typeface="Calibri"/>
              </a:rPr>
              <a:t> Samsung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E7DEFB"/>
                </a:solidFill>
                <a:latin typeface="Calibri"/>
              </a:rPr>
              <a:t>Wizerunek marek a decyzje zakupowe konsumentów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532120"/>
            <a:ext cx="10561320" cy="8686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53212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071E3"/>
                </a:solidFill>
                <a:latin typeface="Calibri"/>
              </a:rPr>
              <a:t>AUTORKI:  </a:t>
            </a:r>
            <a:r>
              <a:rPr sz="1300" b="0" i="0">
                <a:solidFill>
                  <a:srgbClr val="1D1D1F"/>
                </a:solidFill>
                <a:latin typeface="Calibri"/>
              </a:rPr>
              <a:t>Magdalena Gałek  •  Aleksandra Macioszek  •  Łucja Marcyniuk  •  Julia Nasiłowska  •  Dominika Zdun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1">
                <a:solidFill>
                  <a:srgbClr val="86868B"/>
                </a:solidFill>
                <a:latin typeface="Calibri"/>
              </a:rPr>
              <a:t>Raport z badania marketingowego  •  maj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66928"/>
            <a:ext cx="1386230" cy="384048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138623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WPROWADZENIE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1D1D1F"/>
                </a:solidFill>
                <a:latin typeface="Calibri"/>
              </a:rPr>
              <a:t>O czym jest to badanie?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920240"/>
            <a:ext cx="822960" cy="82296"/>
          </a:xfrm>
          <a:prstGeom prst="roundRect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240280"/>
            <a:ext cx="548640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40000" dir="5400000" rotWithShape="0">
              <a:srgbClr val="2A1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514600"/>
            <a:ext cx="484632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1428A0"/>
                </a:solidFill>
                <a:latin typeface="Calibri"/>
              </a:rPr>
              <a:t>Cel badania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1D1D1F"/>
                </a:solidFill>
                <a:latin typeface="Calibri"/>
              </a:rPr>
              <a:t>Poznanie sposobu postrzegania marek iPhone (Apple) oraz Samsung przez konsumentów oraz określenie wpływu ich wizerunku na deklaracje zakupowe.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600" b="0" i="0">
                <a:solidFill>
                  <a:srgbClr val="1D1D1F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0071E3"/>
                </a:solidFill>
                <a:latin typeface="Calibri"/>
              </a:rPr>
              <a:t>Główne pytanie badawcze: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1">
                <a:solidFill>
                  <a:srgbClr val="86868B"/>
                </a:solidFill>
                <a:latin typeface="Calibri"/>
              </a:rPr>
              <a:t>Jakie są opinie konsumentów na temat wizerunku marek iPhone i Samsung oraz jak wpływają one na ich deklaracje zakupowe?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2240280"/>
            <a:ext cx="4754880" cy="6400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40000" dir="5400000" rotWithShape="0">
              <a:srgbClr val="2A1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93408" y="2331720"/>
            <a:ext cx="457200" cy="457200"/>
          </a:xfrm>
          <a:prstGeom prst="ellipse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93408" y="23317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240280"/>
            <a:ext cx="3931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D1D1F"/>
                </a:solidFill>
                <a:latin typeface="Calibri"/>
              </a:rPr>
              <a:t>Metodyka badania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3017520"/>
            <a:ext cx="4754880" cy="6400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40000" dir="5400000" rotWithShape="0">
              <a:srgbClr val="2A1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93408" y="3108960"/>
            <a:ext cx="457200" cy="457200"/>
          </a:xfrm>
          <a:prstGeom prst="ellipse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93408" y="31089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017520"/>
            <a:ext cx="3931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D1D1F"/>
                </a:solidFill>
                <a:latin typeface="Calibri"/>
              </a:rPr>
              <a:t>Hipotezy badawcze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3794760"/>
            <a:ext cx="4754880" cy="6400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40000" dir="5400000" rotWithShape="0">
              <a:srgbClr val="2A1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93408" y="3886200"/>
            <a:ext cx="457200" cy="457200"/>
          </a:xfrm>
          <a:prstGeom prst="ellipse">
            <a:avLst/>
          </a:prstGeom>
          <a:solidFill>
            <a:srgbClr val="009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93408" y="38862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794760"/>
            <a:ext cx="3931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D1D1F"/>
                </a:solidFill>
                <a:latin typeface="Calibri"/>
              </a:rPr>
              <a:t>Próba badawcza (N=81)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4572000"/>
            <a:ext cx="4754880" cy="6400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40000" dir="5400000" rotWithShape="0">
              <a:srgbClr val="2A1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693408" y="4663440"/>
            <a:ext cx="457200" cy="457200"/>
          </a:xfrm>
          <a:prstGeom prst="ellipse">
            <a:avLst/>
          </a:prstGeom>
          <a:solidFill>
            <a:srgbClr val="5AC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93408" y="46634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4572000"/>
            <a:ext cx="3931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D1D1F"/>
                </a:solidFill>
                <a:latin typeface="Calibri"/>
              </a:rPr>
              <a:t>Wyniki badania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5349240"/>
            <a:ext cx="4754880" cy="6400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40000" dir="5400000" rotWithShape="0">
              <a:srgbClr val="2A1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93408" y="5440680"/>
            <a:ext cx="457200" cy="457200"/>
          </a:xfrm>
          <a:prstGeom prst="ellipse">
            <a:avLst/>
          </a:prstGeom>
          <a:solidFill>
            <a:srgbClr val="484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3408" y="54406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5349240"/>
            <a:ext cx="3931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D1D1F"/>
                </a:solidFill>
                <a:latin typeface="Calibri"/>
              </a:rPr>
              <a:t>Wnioski i zalecenia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86868B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66928"/>
            <a:ext cx="2275027" cy="384048"/>
          </a:xfrm>
          <a:prstGeom prst="roundRect">
            <a:avLst>
              <a:gd name="adj" fmla="val 50000"/>
            </a:avLst>
          </a:prstGeom>
          <a:solidFill>
            <a:srgbClr val="009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227502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ROZDZIAŁ 1 — METODYKA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1D1D1F"/>
                </a:solidFill>
                <a:latin typeface="Calibri"/>
              </a:rPr>
              <a:t>Pytania szczegółowe badania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920240"/>
            <a:ext cx="822960" cy="82296"/>
          </a:xfrm>
          <a:prstGeom prst="roundRect">
            <a:avLst/>
          </a:prstGeom>
          <a:solidFill>
            <a:srgbClr val="009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212080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40000" dir="5400000" rotWithShape="0">
              <a:srgbClr val="2A1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331720"/>
            <a:ext cx="146304" cy="1737360"/>
          </a:xfrm>
          <a:prstGeom prst="roundRect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51460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071E3"/>
                </a:solidFill>
                <a:latin typeface="Calibri"/>
              </a:rPr>
              <a:t>PS1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44952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1D1D1F"/>
                </a:solidFill>
                <a:latin typeface="Calibri"/>
              </a:rPr>
              <a:t>Które cechy (aparat, prestiż, design, bateria, cena) są najsilniejszymi atrybutami iPhone'a, a które Samsunga?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331720"/>
            <a:ext cx="5212080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40000" dir="5400000" rotWithShape="0">
              <a:srgbClr val="2A1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72200" y="2331720"/>
            <a:ext cx="146304" cy="1737360"/>
          </a:xfrm>
          <a:prstGeom prst="round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51460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1428A0"/>
                </a:solidFill>
                <a:latin typeface="Calibri"/>
              </a:rPr>
              <a:t>PS2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044952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1D1D1F"/>
                </a:solidFill>
                <a:latin typeface="Calibri"/>
              </a:rPr>
              <a:t>Czy iPhone jest postrzegany jako symbol wysokiego statusu społecznego?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251960"/>
            <a:ext cx="5212080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40000" dir="5400000" rotWithShape="0">
              <a:srgbClr val="2A1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4251960"/>
            <a:ext cx="146304" cy="1737360"/>
          </a:xfrm>
          <a:prstGeom prst="roundRect">
            <a:avLst/>
          </a:prstGeom>
          <a:solidFill>
            <a:srgbClr val="009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43484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09DDC"/>
                </a:solidFill>
                <a:latin typeface="Calibri"/>
              </a:rPr>
              <a:t>PS3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965192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1D1D1F"/>
                </a:solidFill>
                <a:latin typeface="Calibri"/>
              </a:rPr>
              <a:t>W jakim stopniu zmiana systemu (Android vs iOS) wpływa na lojalność wobec marki?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4251960"/>
            <a:ext cx="5212080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40000" dir="5400000" rotWithShape="0">
              <a:srgbClr val="2A1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72200" y="4251960"/>
            <a:ext cx="146304" cy="1737360"/>
          </a:xfrm>
          <a:prstGeom prst="roundRect">
            <a:avLst/>
          </a:prstGeom>
          <a:solidFill>
            <a:srgbClr val="5AC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443484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5AC8FA"/>
                </a:solidFill>
                <a:latin typeface="Calibri"/>
              </a:rPr>
              <a:t>PS4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965192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1D1D1F"/>
                </a:solidFill>
                <a:latin typeface="Calibri"/>
              </a:rPr>
              <a:t>Jakie decyzje zakupowe podjęliby konsumenci przy braku ograniczeń budżetowych?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86868B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62895" y="4846320"/>
            <a:ext cx="3291840" cy="3291840"/>
          </a:xfrm>
          <a:prstGeom prst="ellipse">
            <a:avLst/>
          </a:prstGeom>
          <a:gradFill>
            <a:gsLst>
              <a:gs pos="0">
                <a:srgbClr val="1428A0"/>
              </a:gs>
              <a:gs pos="100000">
                <a:srgbClr val="48484A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-1097280"/>
            <a:ext cx="2377440" cy="2377440"/>
          </a:xfrm>
          <a:prstGeom prst="ellipse">
            <a:avLst/>
          </a:prstGeom>
          <a:gradFill>
            <a:gsLst>
              <a:gs pos="0">
                <a:srgbClr val="009DDC"/>
              </a:gs>
              <a:gs pos="100000">
                <a:srgbClr val="1B6EF3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566928"/>
            <a:ext cx="2275027" cy="384048"/>
          </a:xfrm>
          <a:prstGeom prst="roundRect">
            <a:avLst>
              <a:gd name="adj" fmla="val 50000"/>
            </a:avLst>
          </a:prstGeom>
          <a:solidFill>
            <a:srgbClr val="5AC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66928"/>
            <a:ext cx="227502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ROZDZIAŁ 1 — METODYKA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078992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Hipotezy badawcze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1920240"/>
            <a:ext cx="822960" cy="82296"/>
          </a:xfrm>
          <a:prstGeom prst="roundRect">
            <a:avLst/>
          </a:prstGeom>
          <a:solidFill>
            <a:srgbClr val="5AC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2377440"/>
            <a:ext cx="10515600" cy="84124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2496312"/>
            <a:ext cx="603504" cy="603504"/>
          </a:xfrm>
          <a:prstGeom prst="ellipse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496312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H1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377440"/>
            <a:ext cx="94183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D1D1F"/>
                </a:solidFill>
                <a:latin typeface="Calibri"/>
              </a:rPr>
              <a:t>iPhone wyżej w prestiżu, jakości i designie; Samsung lepszy w cenie i baterii.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337560"/>
            <a:ext cx="10515600" cy="84124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" y="3456432"/>
            <a:ext cx="603504" cy="603504"/>
          </a:xfrm>
          <a:prstGeom prst="ellipse">
            <a:avLst/>
          </a:prstGeom>
          <a:solidFill>
            <a:srgbClr val="009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456432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H2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3337560"/>
            <a:ext cx="94183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D1D1F"/>
                </a:solidFill>
                <a:latin typeface="Calibri"/>
              </a:rPr>
              <a:t>Większość nie zgadza się, że iPhone to symbol wysokiego statusu społecznego.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297680"/>
            <a:ext cx="10515600" cy="84124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4416552"/>
            <a:ext cx="603504" cy="603504"/>
          </a:xfrm>
          <a:prstGeom prst="ellipse">
            <a:avLst/>
          </a:prstGeom>
          <a:solidFill>
            <a:srgbClr val="5AC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416552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H3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4297680"/>
            <a:ext cx="94183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D1D1F"/>
                </a:solidFill>
                <a:latin typeface="Calibri"/>
              </a:rPr>
              <a:t>Zmiana systemu operacyjnego jest dla konsumentów mało istotna.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257800"/>
            <a:ext cx="10515600" cy="84124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5376672"/>
            <a:ext cx="603504" cy="603504"/>
          </a:xfrm>
          <a:prstGeom prst="ellipse">
            <a:avLst/>
          </a:prstGeom>
          <a:solidFill>
            <a:srgbClr val="484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376672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H4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5257800"/>
            <a:ext cx="94183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D1D1F"/>
                </a:solidFill>
                <a:latin typeface="Calibri"/>
              </a:rPr>
              <a:t>Przy nieograniczonym budżecie konsumenci częściej wybierają iPhone'a.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66928"/>
            <a:ext cx="2275027" cy="384048"/>
          </a:xfrm>
          <a:prstGeom prst="roundRect">
            <a:avLst>
              <a:gd name="adj" fmla="val 50000"/>
            </a:avLst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227502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ROZDZIAŁ 1 — METODYKA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1D1D1F"/>
                </a:solidFill>
                <a:latin typeface="Calibri"/>
              </a:rPr>
              <a:t>Jak prowadziłyśmy badanie?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920240"/>
            <a:ext cx="822960" cy="82296"/>
          </a:xfrm>
          <a:prstGeom prst="round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286000"/>
            <a:ext cx="3383280" cy="2103120"/>
          </a:xfrm>
          <a:prstGeom prst="roundRect">
            <a:avLst>
              <a:gd name="adj" fmla="val 8000"/>
            </a:avLst>
          </a:prstGeom>
          <a:gradFill>
            <a:gsLst>
              <a:gs pos="0">
                <a:srgbClr val="0071E3"/>
              </a:gs>
              <a:gs pos="100000">
                <a:srgbClr val="1E8FFF"/>
              </a:gs>
            </a:gsLst>
            <a:lin ang="2700000" scaled="1"/>
          </a:gradFill>
          <a:ln>
            <a:noFill/>
          </a:ln>
          <a:effectLst/>
          <a:effectLst>
            <a:outerShdw blurRad="90000" dist="40000" dir="5400000" rotWithShape="0">
              <a:srgbClr val="2A1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Calibri"/>
              </a:rPr>
              <a:t>CAWI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3756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Technika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0332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3EEFF"/>
                </a:solidFill>
                <a:latin typeface="Calibri"/>
              </a:rPr>
              <a:t>Wspomagany komputerowo wywiad internetowy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286000"/>
            <a:ext cx="3383280" cy="2103120"/>
          </a:xfrm>
          <a:prstGeom prst="roundRect">
            <a:avLst>
              <a:gd name="adj" fmla="val 8000"/>
            </a:avLst>
          </a:prstGeom>
          <a:gradFill>
            <a:gsLst>
              <a:gs pos="0">
                <a:srgbClr val="009DDC"/>
              </a:gs>
              <a:gs pos="100000">
                <a:srgbClr val="1EBBFF"/>
              </a:gs>
            </a:gsLst>
            <a:lin ang="2700000" scaled="1"/>
          </a:gradFill>
          <a:ln>
            <a:noFill/>
          </a:ln>
          <a:effectLst/>
          <a:effectLst>
            <a:outerShdw blurRad="90000" dist="40000" dir="5400000" rotWithShape="0">
              <a:srgbClr val="2A1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468880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33756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Pytań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370332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3EEFF"/>
                </a:solidFill>
                <a:latin typeface="Calibri"/>
              </a:rPr>
              <a:t>13 merytorycznych + 4 metryczkowe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286000"/>
            <a:ext cx="3383280" cy="2103120"/>
          </a:xfrm>
          <a:prstGeom prst="roundRect">
            <a:avLst>
              <a:gd name="adj" fmla="val 8000"/>
            </a:avLst>
          </a:prstGeom>
          <a:gradFill>
            <a:gsLst>
              <a:gs pos="0">
                <a:srgbClr val="5AC8FA"/>
              </a:gs>
              <a:gs pos="100000">
                <a:srgbClr val="78E6FF"/>
              </a:gs>
            </a:gsLst>
            <a:lin ang="2700000" scaled="1"/>
          </a:gradFill>
          <a:ln>
            <a:noFill/>
          </a:ln>
          <a:effectLst/>
          <a:effectLst>
            <a:outerShdw blurRad="90000" dist="40000" dir="5400000" rotWithShape="0">
              <a:srgbClr val="2A1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468880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Calibri"/>
              </a:rPr>
              <a:t>maj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33756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Termin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70332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3EEFF"/>
                </a:solidFill>
                <a:latin typeface="Calibri"/>
              </a:rPr>
              <a:t>Sondaż diagnostyczny, dobór celowo-wygodny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7091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D1D1F"/>
                </a:solidFill>
                <a:latin typeface="Calibri"/>
              </a:rPr>
              <a:t>Rodzaje zastosowanych pytań: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166360"/>
            <a:ext cx="2953512" cy="502920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166360"/>
            <a:ext cx="295351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Filtrujące / dychotomiczne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59352" y="5166360"/>
            <a:ext cx="2473452" cy="502920"/>
          </a:xfrm>
          <a:prstGeom prst="roundRect">
            <a:avLst>
              <a:gd name="adj" fmla="val 50000"/>
            </a:avLst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59352" y="5166360"/>
            <a:ext cx="247345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Otwarte (asocjacyjne)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15684" y="5166360"/>
            <a:ext cx="2089404" cy="502920"/>
          </a:xfrm>
          <a:prstGeom prst="roundRect">
            <a:avLst>
              <a:gd name="adj" fmla="val 50000"/>
            </a:avLst>
          </a:prstGeom>
          <a:solidFill>
            <a:srgbClr val="009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15684" y="5166360"/>
            <a:ext cx="208940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Skale Likerta 1-5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87968" y="5166360"/>
            <a:ext cx="3145536" cy="502920"/>
          </a:xfrm>
          <a:prstGeom prst="roundRect">
            <a:avLst>
              <a:gd name="adj" fmla="val 50000"/>
            </a:avLst>
          </a:prstGeom>
          <a:solidFill>
            <a:srgbClr val="5AC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87968" y="5166360"/>
            <a:ext cx="314553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Dylematowe (intencje zakupu)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86868B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66928"/>
            <a:ext cx="1978761" cy="384048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197876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ROZDZIAŁ 1 — PRÓBA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1D1D1F"/>
                </a:solidFill>
                <a:latin typeface="Calibri"/>
              </a:rPr>
              <a:t>Kim byli respondenci? (N=81)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920240"/>
            <a:ext cx="822960" cy="82296"/>
          </a:xfrm>
          <a:prstGeom prst="round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92640" y="502920"/>
            <a:ext cx="1737360" cy="1097280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1428A0"/>
              </a:gs>
              <a:gs pos="100000">
                <a:srgbClr val="48484A"/>
              </a:gs>
            </a:gsLst>
            <a:lin ang="2700000" scaled="1"/>
          </a:gradFill>
          <a:ln>
            <a:noFill/>
          </a:ln>
          <a:effectLst/>
          <a:effectLst>
            <a:outerShdw blurRad="90000" dist="40000" dir="5400000" rotWithShape="0">
              <a:srgbClr val="2A1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0" y="566928"/>
            <a:ext cx="17373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81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respondentów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2286000"/>
          <a:ext cx="512064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217920" y="2286000"/>
          <a:ext cx="5212080" cy="4023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86868B"/>
                </a:solidFill>
                <a:latin typeface="Calibri"/>
              </a:rPr>
              <a:t>Dominują młodzi (18-24 lata: 67,9%), uczniowie/studenci (49,4%) — najaktywniejsi użytkownicy nowych technologii.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86868B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66928"/>
            <a:ext cx="2077516" cy="384048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207751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ROZDZIAŁ 2 — WYNIKI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1D1D1F"/>
                </a:solidFill>
                <a:latin typeface="Calibri"/>
              </a:rPr>
              <a:t>Ocena wizerunku marek (skala 1-5)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920240"/>
            <a:ext cx="822960" cy="82296"/>
          </a:xfrm>
          <a:prstGeom prst="roundRect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22960" y="2194560"/>
          <a:ext cx="758952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41080" y="2194560"/>
            <a:ext cx="274320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40000" dir="5400000" rotWithShape="0">
              <a:srgbClr val="2A1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15400" y="2423160"/>
            <a:ext cx="228600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A84FF"/>
                </a:solidFill>
                <a:latin typeface="Calibri"/>
              </a:rPr>
              <a:t>H1 potwierdzona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400" b="0" i="0">
                <a:solidFill>
                  <a:srgbClr val="1D1D1F"/>
                </a:solidFill>
                <a:latin typeface="Calibri"/>
              </a:rPr>
              <a:t/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D1D1F"/>
                </a:solidFill>
                <a:latin typeface="Calibri"/>
              </a:rPr>
              <a:t>iPhone wygrywa: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D1D1F"/>
                </a:solidFill>
                <a:latin typeface="Calibri"/>
              </a:rPr>
              <a:t>aparat (4,51), prestiż (4,27), jakość/design (4,20)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400" b="0" i="0">
                <a:solidFill>
                  <a:srgbClr val="1D1D1F"/>
                </a:solidFill>
                <a:latin typeface="Calibri"/>
              </a:rPr>
              <a:t/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428A0"/>
                </a:solidFill>
                <a:latin typeface="Calibri"/>
              </a:rPr>
              <a:t>Samsung wygrywa: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D1D1F"/>
                </a:solidFill>
                <a:latin typeface="Calibri"/>
              </a:rPr>
              <a:t>bateria (4,00), cena/jakość (3,93), intuicyjność (3,88)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400" b="0" i="0">
                <a:solidFill>
                  <a:srgbClr val="1D1D1F"/>
                </a:solidFill>
                <a:latin typeface="Calibri"/>
              </a:rPr>
              <a:t/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86868B"/>
                </a:solidFill>
                <a:latin typeface="Calibri"/>
              </a:rPr>
              <a:t>iPhone = premium, Samsung = funkcjonalność i ekonomia.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86868B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66928"/>
            <a:ext cx="2077516" cy="384048"/>
          </a:xfrm>
          <a:prstGeom prst="roundRect">
            <a:avLst>
              <a:gd name="adj" fmla="val 50000"/>
            </a:avLst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207751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ROZDZIAŁ 2 — WYNIKI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1D1D1F"/>
                </a:solidFill>
                <a:latin typeface="Calibri"/>
              </a:rPr>
              <a:t>Status społeczny i bariera technologiczna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920240"/>
            <a:ext cx="822960" cy="82296"/>
          </a:xfrm>
          <a:prstGeom prst="round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22960" y="2377440"/>
          <a:ext cx="493776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126480" y="2377440"/>
            <a:ext cx="52578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40000" dir="5400000" rotWithShape="0">
              <a:srgbClr val="2A1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47548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71E3"/>
                </a:solidFill>
                <a:latin typeface="Calibri"/>
              </a:rPr>
              <a:t>Bariera technologiczna (zmiana Android &lt;-&gt; iOS)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D1D1F"/>
                </a:solidFill>
                <a:latin typeface="Calibri"/>
              </a:rPr>
              <a:t>37,0% — to nie jest duży problem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D1D1F"/>
                </a:solidFill>
                <a:latin typeface="Calibri"/>
              </a:rPr>
              <a:t>34,6% — to istotne utrudnienie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86868B"/>
                </a:solidFill>
                <a:latin typeface="Calibri"/>
              </a:rPr>
              <a:t>28,4% — trudno powiedzieć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389120"/>
            <a:ext cx="2560320" cy="164592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0A84FF"/>
              </a:gs>
              <a:gs pos="100000">
                <a:srgbClr val="009DDC"/>
              </a:gs>
            </a:gsLst>
            <a:lin ang="2700000" scaled="1"/>
          </a:gradFill>
          <a:ln>
            <a:noFill/>
          </a:ln>
          <a:effectLst/>
          <a:effectLst>
            <a:outerShdw blurRad="90000" dist="40000" dir="5400000" rotWithShape="0">
              <a:srgbClr val="2A1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4572000"/>
            <a:ext cx="21945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H2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POTWIERDZONA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50,6% nie łączy iPhone'a ze statusem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4389120"/>
            <a:ext cx="2560320" cy="164592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5AC8FA"/>
              </a:gs>
              <a:gs pos="100000">
                <a:srgbClr val="48484A"/>
              </a:gs>
            </a:gsLst>
            <a:lin ang="2700000" scaled="1"/>
          </a:gradFill>
          <a:ln>
            <a:noFill/>
          </a:ln>
          <a:effectLst/>
          <a:effectLst>
            <a:outerShdw blurRad="90000" dist="40000" dir="5400000" rotWithShape="0">
              <a:srgbClr val="2A1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6840" y="4572000"/>
            <a:ext cx="21945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H3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CZĘŚCIOWO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duże zróżnicowanie odpowiedzi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86868B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5212080"/>
            <a:ext cx="2926080" cy="2926080"/>
          </a:xfrm>
          <a:prstGeom prst="ellipse">
            <a:avLst/>
          </a:prstGeom>
          <a:gradFill>
            <a:gsLst>
              <a:gs pos="0">
                <a:srgbClr val="009DDC"/>
              </a:gs>
              <a:gs pos="100000">
                <a:srgbClr val="1B6EF3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28655" y="-731520"/>
            <a:ext cx="2194560" cy="2194560"/>
          </a:xfrm>
          <a:prstGeom prst="ellipse">
            <a:avLst/>
          </a:prstGeom>
          <a:gradFill>
            <a:gsLst>
              <a:gs pos="0">
                <a:srgbClr val="1428A0"/>
              </a:gs>
              <a:gs pos="100000">
                <a:srgbClr val="48484A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566928"/>
            <a:ext cx="2077516" cy="384048"/>
          </a:xfrm>
          <a:prstGeom prst="roundRect">
            <a:avLst>
              <a:gd name="adj" fmla="val 50000"/>
            </a:avLst>
          </a:prstGeom>
          <a:solidFill>
            <a:srgbClr val="5AC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66928"/>
            <a:ext cx="207751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ROZDZIAŁ 2 — WYNIKI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078992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Preferencje zakupowe respondentów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1920240"/>
            <a:ext cx="822960" cy="82296"/>
          </a:xfrm>
          <a:prstGeom prst="roundRect">
            <a:avLst/>
          </a:prstGeom>
          <a:solidFill>
            <a:srgbClr val="5AC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4023360" cy="2377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0" b="1" i="0">
                <a:solidFill>
                  <a:srgbClr val="5AC8FA"/>
                </a:solidFill>
                <a:latin typeface="Calibri"/>
              </a:rPr>
              <a:t>63%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434840"/>
            <a:ext cx="4023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respondentów wybiera iPhone'a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D9CBF7"/>
                </a:solidFill>
                <a:latin typeface="Calibri"/>
              </a:rPr>
              <a:t>przy nieograniczonym budżecie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120640" y="2286000"/>
          <a:ext cx="630936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822960" y="5897880"/>
            <a:ext cx="4023360" cy="6400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897880"/>
            <a:ext cx="374903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071E3"/>
                </a:solidFill>
                <a:latin typeface="Calibri"/>
              </a:rPr>
              <a:t>56,8% </a:t>
            </a:r>
            <a:r>
              <a:rPr sz="1300" b="0" i="0">
                <a:solidFill>
                  <a:srgbClr val="1D1D1F"/>
                </a:solidFill>
                <a:latin typeface="Calibri"/>
              </a:rPr>
              <a:t>przyznaje: marka wpływa na zakup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66928"/>
            <a:ext cx="2176272" cy="384048"/>
          </a:xfrm>
          <a:prstGeom prst="roundRect">
            <a:avLst>
              <a:gd name="adj" fmla="val 50000"/>
            </a:avLst>
          </a:prstGeom>
          <a:solidFill>
            <a:srgbClr val="009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21762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PODSUMOWANIE WYNIKÓW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1D1D1F"/>
                </a:solidFill>
                <a:latin typeface="Calibri"/>
              </a:rPr>
              <a:t>Weryfikacja hipotez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920240"/>
            <a:ext cx="822960" cy="82296"/>
          </a:xfrm>
          <a:prstGeom prst="roundRect">
            <a:avLst/>
          </a:prstGeom>
          <a:solidFill>
            <a:srgbClr val="009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377440"/>
            <a:ext cx="10515600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40000" dir="5400000" rotWithShape="0">
              <a:srgbClr val="2A1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7552" y="2514600"/>
            <a:ext cx="594360" cy="594360"/>
          </a:xfrm>
          <a:prstGeom prst="ellipse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514600"/>
            <a:ext cx="5943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H1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377440"/>
            <a:ext cx="6400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D1D1F"/>
                </a:solidFill>
                <a:latin typeface="Calibri"/>
              </a:rPr>
              <a:t>iPhone = prestiż, Samsung = cena/bateria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2560320"/>
            <a:ext cx="2651760" cy="502920"/>
          </a:xfrm>
          <a:prstGeom prst="roundRect">
            <a:avLst>
              <a:gd name="adj" fmla="val 50000"/>
            </a:avLst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2560320"/>
            <a:ext cx="2651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POTWIERDZONA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364992"/>
            <a:ext cx="10515600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40000" dir="5400000" rotWithShape="0">
              <a:srgbClr val="2A1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87552" y="3502152"/>
            <a:ext cx="594360" cy="594360"/>
          </a:xfrm>
          <a:prstGeom prst="ellipse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3502152"/>
            <a:ext cx="5943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H2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364992"/>
            <a:ext cx="6400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D1D1F"/>
                </a:solidFill>
                <a:latin typeface="Calibri"/>
              </a:rPr>
              <a:t>iPhone nie jest symbolem statusu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03920" y="3547872"/>
            <a:ext cx="2651760" cy="502920"/>
          </a:xfrm>
          <a:prstGeom prst="roundRect">
            <a:avLst>
              <a:gd name="adj" fmla="val 50000"/>
            </a:avLst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3547872"/>
            <a:ext cx="2651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POTWIERDZONA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352544"/>
            <a:ext cx="10515600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40000" dir="5400000" rotWithShape="0">
              <a:srgbClr val="2A1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87552" y="4489704"/>
            <a:ext cx="594360" cy="594360"/>
          </a:xfrm>
          <a:prstGeom prst="ellipse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4489704"/>
            <a:ext cx="5943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H3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352544"/>
            <a:ext cx="6400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D1D1F"/>
                </a:solidFill>
                <a:latin typeface="Calibri"/>
              </a:rPr>
              <a:t>Zmiana systemu mało istotna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03920" y="4535424"/>
            <a:ext cx="2651760" cy="502920"/>
          </a:xfrm>
          <a:prstGeom prst="roundRect">
            <a:avLst>
              <a:gd name="adj" fmla="val 50000"/>
            </a:avLst>
          </a:prstGeom>
          <a:solidFill>
            <a:srgbClr val="5AC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4535424"/>
            <a:ext cx="2651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CZĘŚCIOWO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340096"/>
            <a:ext cx="10515600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40000" dir="5400000" rotWithShape="0">
              <a:srgbClr val="2A1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7552" y="5477256"/>
            <a:ext cx="594360" cy="594360"/>
          </a:xfrm>
          <a:prstGeom prst="ellipse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477256"/>
            <a:ext cx="5943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H4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5340096"/>
            <a:ext cx="6400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D1D1F"/>
                </a:solidFill>
                <a:latin typeface="Calibri"/>
              </a:rPr>
              <a:t>Przy braku ograniczeń wybór: iPhone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03920" y="5522976"/>
            <a:ext cx="2651760" cy="502920"/>
          </a:xfrm>
          <a:prstGeom prst="roundRect">
            <a:avLst>
              <a:gd name="adj" fmla="val 50000"/>
            </a:avLst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0" y="5522976"/>
            <a:ext cx="2651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POTWIERDZONA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86868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66928"/>
            <a:ext cx="2176272" cy="384048"/>
          </a:xfrm>
          <a:prstGeom prst="roundRect">
            <a:avLst>
              <a:gd name="adj" fmla="val 50000"/>
            </a:avLst>
          </a:prstGeom>
          <a:solidFill>
            <a:srgbClr val="484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21762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ROZDZIAŁ 3 — WNIOSKI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1D1D1F"/>
                </a:solidFill>
                <a:latin typeface="Calibri"/>
              </a:rPr>
              <a:t>Najważniejsze wnioski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920240"/>
            <a:ext cx="822960" cy="82296"/>
          </a:xfrm>
          <a:prstGeom prst="roundRect">
            <a:avLst/>
          </a:prstGeom>
          <a:solidFill>
            <a:srgbClr val="484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21208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40000" dir="5400000" rotWithShape="0">
              <a:srgbClr val="2A1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" y="2606040"/>
            <a:ext cx="502920" cy="502920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0604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587752"/>
            <a:ext cx="4023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D1D1F"/>
                </a:solidFill>
                <a:latin typeface="Calibri"/>
              </a:rPr>
              <a:t>iPhone = prestiż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246120"/>
            <a:ext cx="4617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D1D1F"/>
                </a:solidFill>
                <a:latin typeface="Calibri"/>
              </a:rPr>
              <a:t>Marka premium: jakość, design, aparat. Słabości: bateria i cena.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331720"/>
            <a:ext cx="521208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40000" dir="5400000" rotWithShape="0">
              <a:srgbClr val="2A1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2606040"/>
            <a:ext cx="502920" cy="502920"/>
          </a:xfrm>
          <a:prstGeom prst="ellipse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60604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587752"/>
            <a:ext cx="4023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428A0"/>
                </a:solidFill>
                <a:latin typeface="Calibri"/>
              </a:rPr>
              <a:t>Samsung = praktyczność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246120"/>
            <a:ext cx="4617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D1D1F"/>
                </a:solidFill>
                <a:latin typeface="Calibri"/>
              </a:rPr>
              <a:t>Funkcjonalność, bateria, intuicyjność i korzystna cena.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297680"/>
            <a:ext cx="521208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40000" dir="5400000" rotWithShape="0">
              <a:srgbClr val="2A1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97280" y="4572000"/>
            <a:ext cx="502920" cy="502920"/>
          </a:xfrm>
          <a:prstGeom prst="ellipse">
            <a:avLst/>
          </a:prstGeom>
          <a:solidFill>
            <a:srgbClr val="009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57200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4553712"/>
            <a:ext cx="4023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09DDC"/>
                </a:solidFill>
                <a:latin typeface="Calibri"/>
              </a:rPr>
              <a:t>Status traci znaczenie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212080"/>
            <a:ext cx="4617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D1D1F"/>
                </a:solidFill>
                <a:latin typeface="Calibri"/>
              </a:rPr>
              <a:t>Konsumenci coraz częściej oceniają realną użyteczność, nie prestiż.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297680"/>
            <a:ext cx="521208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40000" dir="5400000" rotWithShape="0">
              <a:srgbClr val="2A1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4572000"/>
            <a:ext cx="502920" cy="502920"/>
          </a:xfrm>
          <a:prstGeom prst="ellipse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57200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4553712"/>
            <a:ext cx="4023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071E3"/>
                </a:solidFill>
                <a:latin typeface="Calibri"/>
              </a:rPr>
              <a:t>Marka napędza zakupy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5212080"/>
            <a:ext cx="4617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D1D1F"/>
                </a:solidFill>
                <a:latin typeface="Calibri"/>
              </a:rPr>
              <a:t>Marka to jeden z kluczowych czynników decyzji konsumenckich.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86868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071E3"/>
              </a:gs>
              <a:gs pos="100000">
                <a:srgbClr val="0A122A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80015" y="-914400"/>
            <a:ext cx="3108960" cy="3108960"/>
          </a:xfrm>
          <a:prstGeom prst="ellipse">
            <a:avLst/>
          </a:prstGeom>
          <a:gradFill>
            <a:gsLst>
              <a:gs pos="0">
                <a:srgbClr val="5AC8FA"/>
              </a:gs>
              <a:gs pos="100000">
                <a:srgbClr val="48484A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5029200"/>
            <a:ext cx="3291840" cy="3291840"/>
          </a:xfrm>
          <a:prstGeom prst="ellipse">
            <a:avLst/>
          </a:prstGeom>
          <a:gradFill>
            <a:gsLst>
              <a:gs pos="0">
                <a:srgbClr val="009DDC"/>
              </a:gs>
              <a:gs pos="100000">
                <a:srgbClr val="1B6EF3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566928"/>
            <a:ext cx="2373782" cy="384048"/>
          </a:xfrm>
          <a:prstGeom prst="roundRect">
            <a:avLst>
              <a:gd name="adj" fmla="val 50000"/>
            </a:avLst>
          </a:prstGeom>
          <a:solidFill>
            <a:srgbClr val="5AC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66928"/>
            <a:ext cx="237378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ROZDZIAŁ 3 — ZALECENIA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Zalecenia praktyczne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03120"/>
            <a:ext cx="6949440" cy="7315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2103120"/>
            <a:ext cx="128016" cy="731520"/>
          </a:xfrm>
          <a:prstGeom prst="round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103120"/>
            <a:ext cx="6492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428A0"/>
                </a:solidFill>
                <a:latin typeface="Calibri"/>
              </a:rPr>
              <a:t>Apple: </a:t>
            </a:r>
            <a:r>
              <a:rPr sz="1400" b="0" i="0">
                <a:solidFill>
                  <a:srgbClr val="1D1D1F"/>
                </a:solidFill>
                <a:latin typeface="Calibri"/>
              </a:rPr>
              <a:t>poprawić baterię oraz relację jakości do ceny.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971800"/>
            <a:ext cx="6949440" cy="7315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2971800"/>
            <a:ext cx="128016" cy="731520"/>
          </a:xfrm>
          <a:prstGeom prst="roundRect">
            <a:avLst/>
          </a:prstGeom>
          <a:solidFill>
            <a:srgbClr val="009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2971800"/>
            <a:ext cx="6492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09DDC"/>
                </a:solidFill>
                <a:latin typeface="Calibri"/>
              </a:rPr>
              <a:t>Samsung: </a:t>
            </a:r>
            <a:r>
              <a:rPr sz="1400" b="0" i="0">
                <a:solidFill>
                  <a:srgbClr val="1D1D1F"/>
                </a:solidFill>
                <a:latin typeface="Calibri"/>
              </a:rPr>
              <a:t>podkreślać funkcjonalność, budować prestiż marki.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840480"/>
            <a:ext cx="6949440" cy="7315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840480"/>
            <a:ext cx="128016" cy="731520"/>
          </a:xfrm>
          <a:prstGeom prst="roundRect">
            <a:avLst/>
          </a:prstGeom>
          <a:solidFill>
            <a:srgbClr val="5AC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3840480"/>
            <a:ext cx="6492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5AC8FA"/>
                </a:solidFill>
                <a:latin typeface="Calibri"/>
              </a:rPr>
              <a:t>Obie marki: </a:t>
            </a:r>
            <a:r>
              <a:rPr sz="1400" b="0" i="0">
                <a:solidFill>
                  <a:srgbClr val="1D1D1F"/>
                </a:solidFill>
                <a:latin typeface="Calibri"/>
              </a:rPr>
              <a:t>rozwijać lojalność i komunikację marketingową.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709160"/>
            <a:ext cx="6949440" cy="7315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4709160"/>
            <a:ext cx="128016" cy="731520"/>
          </a:xfrm>
          <a:prstGeom prst="roundRect">
            <a:avLst/>
          </a:prstGeom>
          <a:solidFill>
            <a:srgbClr val="484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709160"/>
            <a:ext cx="6492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48484A"/>
                </a:solidFill>
                <a:latin typeface="Calibri"/>
              </a:rPr>
              <a:t>Komunikacja: </a:t>
            </a:r>
            <a:r>
              <a:rPr sz="1400" b="0" i="0">
                <a:solidFill>
                  <a:srgbClr val="1D1D1F"/>
                </a:solidFill>
                <a:latin typeface="Calibri"/>
              </a:rPr>
              <a:t>akcentować konkretne, racjonalne korzyści użytkowe.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377440"/>
            <a:ext cx="347472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Dziękujemy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5AC8FA"/>
                </a:solidFill>
                <a:latin typeface="Calibri"/>
              </a:rPr>
              <a:t>za uwagę!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D1D1F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1">
                <a:solidFill>
                  <a:srgbClr val="E7DEFB"/>
                </a:solidFill>
                <a:latin typeface="Calibri"/>
              </a:rPr>
              <a:t>Pytania?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217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BBDF0"/>
                </a:solidFill>
                <a:latin typeface="Calibri"/>
              </a:rPr>
              <a:t>UMCS w Lublinie  •  Wydział Ekonomiczny  •  Zarządzanie  •  Badanie marketingowe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